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9a61ec696e4817" /><Relationship Type="http://schemas.openxmlformats.org/officeDocument/2006/relationships/extended-properties" Target="/docProps/app.xml" Id="R7509721d15ec47f8" /><Relationship Type="http://schemas.openxmlformats.org/officeDocument/2006/relationships/officeDocument" Target="/ppt/presentation.xml" Id="R83cb048600b843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adb51d49ea41c9"/>
  </p:sldMasterIdLst>
  <p:notesMasterIdLst>
    <p:notesMasterId xmlns:r="http://schemas.openxmlformats.org/officeDocument/2006/relationships" r:id="Rb60ea03e54c84612"/>
  </p:notesMasterIdLst>
  <p:sldIdLst>
    <p:sldId xmlns:r="http://schemas.openxmlformats.org/officeDocument/2006/relationships" id="256" r:id="Rda3b33de186140ce"/>
    <p:sldId xmlns:r="http://schemas.openxmlformats.org/officeDocument/2006/relationships" id="257" r:id="Rd6b372cbbf104fc6"/>
    <p:sldId xmlns:r="http://schemas.openxmlformats.org/officeDocument/2006/relationships" id="258" r:id="R08823a2019794b8c"/>
    <p:sldId xmlns:r="http://schemas.openxmlformats.org/officeDocument/2006/relationships" id="259" r:id="R6c2bab551a9b488d"/>
    <p:sldId xmlns:r="http://schemas.openxmlformats.org/officeDocument/2006/relationships" id="260" r:id="Rd8ce2a0cf7f14d3a"/>
    <p:sldId xmlns:r="http://schemas.openxmlformats.org/officeDocument/2006/relationships" id="261" r:id="R9646d161fb4d45af"/>
    <p:sldId xmlns:r="http://schemas.openxmlformats.org/officeDocument/2006/relationships" id="262" r:id="R4f225ade64e646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2bea7f86824e70" /><Relationship Type="http://schemas.openxmlformats.org/officeDocument/2006/relationships/slideMaster" Target="/ppt/slideMasters/slideMaster1.xml" Id="R70adb51d49ea41c9" /><Relationship Type="http://schemas.openxmlformats.org/officeDocument/2006/relationships/notesMaster" Target="/ppt/notesMasters/notesMaster1.xml" Id="Rb60ea03e54c84612" /><Relationship Type="http://schemas.openxmlformats.org/officeDocument/2006/relationships/presProps" Target="/ppt/presProps.xml" Id="Rf0fefd94e46849f8" /><Relationship Type="http://schemas.openxmlformats.org/officeDocument/2006/relationships/tableStyles" Target="/ppt/tableStyles.xml" Id="Rea45bc2ca6164184" /><Relationship Type="http://schemas.openxmlformats.org/officeDocument/2006/relationships/slide" Target="/ppt/slides/slide1.xml" Id="Rda3b33de186140ce" /><Relationship Type="http://schemas.openxmlformats.org/officeDocument/2006/relationships/slide" Target="/ppt/slides/slide2.xml" Id="Rd6b372cbbf104fc6" /><Relationship Type="http://schemas.openxmlformats.org/officeDocument/2006/relationships/slide" Target="/ppt/slides/slide3.xml" Id="R08823a2019794b8c" /><Relationship Type="http://schemas.openxmlformats.org/officeDocument/2006/relationships/slide" Target="/ppt/slides/slide4.xml" Id="R6c2bab551a9b488d" /><Relationship Type="http://schemas.openxmlformats.org/officeDocument/2006/relationships/slide" Target="/ppt/slides/slide5.xml" Id="Rd8ce2a0cf7f14d3a" /><Relationship Type="http://schemas.openxmlformats.org/officeDocument/2006/relationships/slide" Target="/ppt/slides/slide6.xml" Id="R9646d161fb4d45af" /><Relationship Type="http://schemas.openxmlformats.org/officeDocument/2006/relationships/slide" Target="/ppt/slides/slide7.xml" Id="R4f225ade64e646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ee4426d0b745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edcd8309ae4bb9" /><Relationship Type="http://schemas.openxmlformats.org/officeDocument/2006/relationships/notesMaster" Target="/ppt/notesMasters/notesMaster1.xml" Id="Rba89c1a800244b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a2c9081bba41c0" /><Relationship Type="http://schemas.openxmlformats.org/officeDocument/2006/relationships/notesMaster" Target="/ppt/notesMasters/notesMaster1.xml" Id="R568571085be446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a99a780aa9841d6" /><Relationship Type="http://schemas.openxmlformats.org/officeDocument/2006/relationships/notesMaster" Target="/ppt/notesMasters/notesMaster1.xml" Id="R5ffa3411d78b43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c1c673edf44935" /><Relationship Type="http://schemas.openxmlformats.org/officeDocument/2006/relationships/notesMaster" Target="/ppt/notesMasters/notesMaster1.xml" Id="R62d68cb843794d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c0ed6d43214071" /><Relationship Type="http://schemas.openxmlformats.org/officeDocument/2006/relationships/notesMaster" Target="/ppt/notesMasters/notesMaster1.xml" Id="Rbab5fe7737474b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d63a85b738f42ec" /><Relationship Type="http://schemas.openxmlformats.org/officeDocument/2006/relationships/notesMaster" Target="/ppt/notesMasters/notesMaster1.xml" Id="R2d3db93b878943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098093f1334223" /><Relationship Type="http://schemas.openxmlformats.org/officeDocument/2006/relationships/notesMaster" Target="/ppt/notesMasters/notesMaster1.xml" Id="R8caf8967d8ff48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source: Hackathon -3 Building Your High School Portfolio (1).pdf,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statement is based on page 2 of the supplied hackathon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generated from the included Pathfolio Java application. Requirements source: supplied brief, pages 3 and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generated from the included Pathfolio Java application. Counselor interaction is required by page 3 of the supplied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flowchart documents the implemented Java application logic. Flowchart and core logic are required by pages 3 and 4 of the supplied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Pseudocode reflects PortfolioService.find in the included Java source. The CS concept requirement appears on page 3 of the supplied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details are drawn from the included Java source. The solution stays within the brief's high-school-level feasibility requirement.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7f5a3c632247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19e37bdb2b4b3b" /><Relationship Type="http://schemas.openxmlformats.org/officeDocument/2006/relationships/slideLayout" Target="/ppt/slideLayouts/slideLayout1.xml" Id="R8a0f98d4afaa44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0f98d4afaa44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0592d54684aad" /><Relationship Type="http://schemas.openxmlformats.org/officeDocument/2006/relationships/notesSlide" Target="/ppt/notesSlides/notesSlide1.xml" Id="R50e64fbf326748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2acacd1ef49f3" /><Relationship Type="http://schemas.openxmlformats.org/officeDocument/2006/relationships/notesSlide" Target="/ppt/notesSlides/notesSlide2.xml" Id="Re35c1b3fcc4041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7eafe8efd495f" /><Relationship Type="http://schemas.openxmlformats.org/officeDocument/2006/relationships/image" Target="/ppt/media/image.png" Id="Ra25fee0a666b4c66" /><Relationship Type="http://schemas.openxmlformats.org/officeDocument/2006/relationships/notesSlide" Target="/ppt/notesSlides/notesSlide3.xml" Id="R9bde150db38845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725abb7f14c69" /><Relationship Type="http://schemas.openxmlformats.org/officeDocument/2006/relationships/image" Target="/ppt/media/image2.png" Id="R17e0f74275e346bd" /><Relationship Type="http://schemas.openxmlformats.org/officeDocument/2006/relationships/notesSlide" Target="/ppt/notesSlides/notesSlide4.xml" Id="Rd3540de3b1b043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5073eda2f4a3c" /><Relationship Type="http://schemas.openxmlformats.org/officeDocument/2006/relationships/notesSlide" Target="/ppt/notesSlides/notesSlide5.xml" Id="Radfaa0ef5faa40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55d43dfc1418a" /><Relationship Type="http://schemas.openxmlformats.org/officeDocument/2006/relationships/notesSlide" Target="/ppt/notesSlides/notesSlide6.xml" Id="R366af628981d46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0bd57bc9ce41c9" /><Relationship Type="http://schemas.openxmlformats.org/officeDocument/2006/relationships/notesSlide" Target="/ppt/notesSlides/notesSlide7.xml" Id="R569019805c5545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660B0C-42AD-47D9-BA54-BFFBB1A1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CSNHS 26-27 HACKATHON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C68C63-9483-4530-B0CC-4D5C1671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6953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Pathfolio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2BA6FE-11E8-4DD6-84AE-5E4CE501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A high school experience tracker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D71BBB-87BB-4F62-8F8B-BDD3A651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619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Capture the details now. Use them when applications begin.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098C39-0410-4935-937D-5236C461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20955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A847B"/>
          </a:solidFill>
          <a:ln xmlns:a="http://schemas.openxmlformats.org/drawingml/2006/main" w="0">
            <a:solidFill>
              <a:srgbClr val="2A847B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WORKING JAVA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EDB81B-1DA7-4BF0-9B97-464A8DD1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02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Student view + counselor review + resume export</a:t>
            </a:r>
          </a:p>
        </p:txBody>
      </p:sp>
    </p:spTree>
    <p:extLst>
      <p:ext uri="{BB962C8B-B14F-4D97-AF65-F5344CB8AC3E}">
        <p14:creationId xmlns:p14="http://schemas.microsoft.com/office/powerpoint/2010/main" val="14419769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C51B4E-8645-4AB1-8A2D-7143A022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The memory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9D7EC-4FB7-4F95-A082-0042551D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Students complete meaningful work, but the evidence gets scattered across four years.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67BE90-E38B-43AF-9DD8-1584E483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63817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ED2B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7B9FE5-4DBE-4627-AE80-BBC5FDF4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47900"/>
            <a:ext cx="5619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By senior year, names, dates, hours, and impact are easy to forget.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979B62-0104-4EEE-9DC2-9E5E0447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5429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College applications and scholarship forms ask for specific details. Students often rebuild those details from old messages, calendars, and memory.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DF9BD9-0D3D-44EE-BA6A-00523B5D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383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The 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FEEE9C-4335-4ACD-B95A-05724B0D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71750"/>
            <a:ext cx="323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Incomplete applications</a:t>
            </a:r>
          </a:p>
          <a:p xmlns:a="http://schemas.openxmlformats.org/drawingml/2006/main">
            <a:pPr algn="l">
              <a:defRPr sz="187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Unverified service hours</a:t>
            </a:r>
          </a:p>
          <a:p xmlns:a="http://schemas.openxmlformats.org/drawingml/2006/main">
            <a:pPr algn="l">
              <a:defRPr sz="187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Generic resume descriptions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1C0146-F8C4-4088-97D8-85DF48EA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86300"/>
            <a:ext cx="323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rPr>
              <a:t>Pathfolio fixes the problem while the experience is still fresh.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3485FC-217D-4773-AB16-1D378272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279698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73A204-3216-4F00-99BA-75152309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Student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C2A5DB-8ADA-4C01-9D02-3D4D754F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A phone-sized workspace turns activities into a searchable four-year record.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fee0a666b4c66"/>
          <a:stretch xmlns:a="http://schemas.openxmlformats.org/drawingml/2006/main"/>
        </p:blipFill>
        <p:spPr>
          <a:xfrm xmlns:a="http://schemas.openxmlformats.org/drawingml/2006/main">
            <a:off x="1348695" y="1619250"/>
            <a:ext cx="2608036" cy="4762500"/>
          </a:xfrm>
          <a:prstGeom xmlns:a="http://schemas.openxmlformats.org/drawingml/2006/main" prst="roundRect">
            <a:avLst>
              <a:gd name="adj" fmla="val 3288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BF364-7C20-4ADC-867B-166ED1BB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8595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Record an experience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EBB717-4114-4BB7-83B2-C486A335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05050"/>
            <a:ext cx="561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Add the title, category, date, hours, and a short description.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32FF3F-5B5E-471A-A38E-50BE2A4D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8135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96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496FB2"/>
                </a:solidFill>
                <a:latin typeface="Helvetica Neue"/>
                <a:ea typeface="Helvetica Neue"/>
                <a:cs typeface="Helvetica Neue"/>
              </a:rPr>
              <a:t>Find the right story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EF74C9-1AA6-4223-A23D-E6092C35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00450"/>
            <a:ext cx="561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Search descriptions, filter by activity type, or sort by date and category.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728F50-6768-479A-9AC6-9F25FF0E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495800"/>
            <a:ext cx="561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rPr>
              <a:t>Reuse the 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B09BA-B47F-4421-B77C-52F8B0FE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14900"/>
            <a:ext cx="561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Track progress with badges, then export organized resume text when it is needed.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43E01B-3BB5-4152-A213-FE7A205C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281832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96B6C7-756F-4848-9F1B-10752C6C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Counselor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FBBA6-D4FE-4E75-9239-2539631A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Counselors review claims early instead of reconstructing a record during senior year.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274EB4-1DD5-431D-AD91-D10B2C99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621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rPr>
              <a:t>Review queue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7E1D2-4056-4BAE-953F-7C9C796A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Pending activities appear in one list with dates, hours, and student descriptions.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5D7B9-F9A0-48EB-97DA-97788296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One-click verification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5C97A-D432-4608-95BA-641244DE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4476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A verified label tells students which entries are ready for official applications.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828112-48D1-4C6B-8B23-B016F030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635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96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496FB2"/>
                </a:solidFill>
                <a:latin typeface="Helvetica Neue"/>
                <a:ea typeface="Helvetica Neue"/>
                <a:cs typeface="Helvetica Neue"/>
              </a:rPr>
              <a:t>Four-year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1D2934-7986-42A0-B86B-4FE0AE4B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626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The timeline makes missing years visible before they become an application problem.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0f74275e346bd"/>
          <a:stretch xmlns:a="http://schemas.openxmlformats.org/drawingml/2006/main"/>
        </p:blipFill>
        <p:spPr>
          <a:xfrm xmlns:a="http://schemas.openxmlformats.org/drawingml/2006/main">
            <a:off x="7101795" y="1619250"/>
            <a:ext cx="2608036" cy="4762500"/>
          </a:xfrm>
          <a:prstGeom xmlns:a="http://schemas.openxmlformats.org/drawingml/2006/main" prst="roundRect">
            <a:avLst>
              <a:gd name="adj" fmla="val 3288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26A9EC-FA11-4026-82BB-6DA0F7EE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724064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A3EA87-4B22-4A21-86C0-517993B5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Core application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2B8527-F493-4C91-B933-5795B948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Each saved experience becomes searchable, reviewable, and ready for reuse.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70B43-BE6D-40D3-BCC1-DF678995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714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05C2A"/>
          </a:solidFill>
          <a:ln xmlns:a="http://schemas.openxmlformats.org/drawingml/2006/main" w="0">
            <a:solidFill>
              <a:srgbClr val="E05C2A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Student adds</a:t>
            </a:r>
          </a:p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experience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D0CA2-BF7D-4DDE-9F45-62D10BB5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86050"/>
            <a:ext cx="1714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9CD4C"/>
          </a:solidFill>
          <a:ln xmlns:a="http://schemas.openxmlformats.org/drawingml/2006/main" w="0">
            <a:solidFill>
              <a:srgbClr val="F9CD4C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App validates</a:t>
            </a:r>
          </a:p>
          <a:p xmlns:a="http://schemas.openxmlformats.org/drawingml/2006/main">
            <a:pPr algn="ctr">
              <a:def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required fields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F933C5-88CD-4A17-AF77-819745F6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86050"/>
            <a:ext cx="1714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96FB2"/>
          </a:solidFill>
          <a:ln xmlns:a="http://schemas.openxmlformats.org/drawingml/2006/main" w="0">
            <a:solidFill>
              <a:srgbClr val="496FB2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App saves and</a:t>
            </a:r>
          </a:p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updates totals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7F111-620C-4804-8121-BB4F2AA4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86050"/>
            <a:ext cx="1714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A847B"/>
          </a:solidFill>
          <a:ln xmlns:a="http://schemas.openxmlformats.org/drawingml/2006/main" w="0">
            <a:solidFill>
              <a:srgbClr val="2A847B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Counselor</a:t>
            </a:r>
          </a:p>
          <a:p xmlns:a="http://schemas.openxmlformats.org/drawingml/2006/main">
            <a:pPr algn="ctr">
              <a:def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verifies entry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3515FD-1E17-47A8-8CD9-0A724EEB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86050"/>
            <a:ext cx="17145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8E91"/>
          </a:solidFill>
          <a:ln xmlns:a="http://schemas.openxmlformats.org/drawingml/2006/main" w="0">
            <a:solidFill>
              <a:srgbClr val="E98E9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Student exports</a:t>
            </a:r>
          </a:p>
          <a:p xmlns:a="http://schemas.openxmlformats.org/drawingml/2006/main">
            <a:pPr algn="ctr">
              <a:def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resume text</a:t>
            </a:r>
          </a:p>
        </p:txBody>
      </p:sp>
      <p:cxnSp>
        <p:nvCxnSpPr>
          <p:cNvPr id="22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381250" y="32004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2322"/>
            </a:solidFill>
            <a:prstDash val="solid"/>
            <a:tailEnd type="triangle" w="sm" len="sm"/>
          </a:ln>
        </p:spPr>
      </p:cxnSp>
      <p:cxnSp>
        <p:nvCxnSpPr>
          <p:cNvPr id="2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572000" y="32004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2322"/>
            </a:solidFill>
            <a:prstDash val="solid"/>
            <a:tailEnd type="triangle" w="sm" len="sm"/>
          </a:ln>
        </p:spPr>
      </p:cxn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762750" y="32004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2322"/>
            </a:solidFill>
            <a:prstDash val="solid"/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953500" y="32004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2322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11706C-95D5-4EC8-89E4-C33B6BF6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1485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If validation fails, the form stays open and highlights the missing or invalid field.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814FB-75CD-438E-9162-E8030908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19700"/>
            <a:ext cx="609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rPr>
              <a:t>All records remain on the student computer in the prototype.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F59497-7622-471D-AE22-275D0DC4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088544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88AFC-591B-48AC-A372-DA72EA4A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Search, filter, and sort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7D8AD6-42ED-45B6-AB08-D2C51763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A single pipeline transforms the saved list into the view the student requested.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F06C80-6E00-4526-B613-C3946170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695325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2322"/>
          </a:solidFill>
          <a:ln xmlns:a="http://schemas.openxmlformats.org/drawingml/2006/main" w="9525">
            <a:solidFill>
              <a:srgbClr val="27232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71A13E-8995-4966-B798-BFC5C8B5B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76450"/>
            <a:ext cx="6191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INPUT query, selectedType, sortMode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results = all experiences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FILTER results where</a:t>
            </a:r>
          </a:p>
          <a:p xmlns:a="http://schemas.openxmlformats.org/drawingml/2006/main">
            <a:pPr algn="l">
              <a:def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  title or description contains query</a:t>
            </a:r>
          </a:p>
          <a:p xmlns:a="http://schemas.openxmlformats.org/drawingml/2006/main">
            <a:pPr algn="l">
              <a:def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  and type matches selectedType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SORT results by date or category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DF8"/>
                </a:solidFill>
                <a:latin typeface="Helvetica Neue"/>
                <a:ea typeface="Helvetica Neue"/>
                <a:cs typeface="Helvetica Neue"/>
              </a:rPr>
              <a:t>DISPLAY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896EF6-2E45-4C35-BD91-7B696C9C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859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Computer science concepts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7789E-E034-4D0E-8F82-76925C1B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Data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7F3CAB-7A46-4354-8542-164C416A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52750"/>
            <a:ext cx="3143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Each experience is one structured record with a category, date, hours, description, and verification status.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F721D-C00F-44AA-9E84-B8A03C81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291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Algorithms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60A329-2EF7-48E4-B8DB-3743208D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10100"/>
            <a:ext cx="3143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Predicate filters remove nonmatches. Comparators order the remaining records. Aggregation calculates total hours and badge progress.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8ADAA2-FE31-4623-90B8-9BCB4E66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406960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6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45493F-1E09-431C-A50B-83F606A3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Realistic now, expandable later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202BD-18A1-4875-85C8-C5D3C2E9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5F59"/>
                </a:solidFill>
                <a:latin typeface="Helvetica Neue"/>
                <a:ea typeface="Helvetica Neue"/>
                <a:cs typeface="Helvetica Neue"/>
              </a:rPr>
              <a:t>The prototype works with standard Java and keeps the school rollout path simple.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DE9C2F-1351-4C17-92A8-AFFB5607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A847B"/>
                </a:solidFill>
                <a:latin typeface="Helvetica Neue"/>
                <a:ea typeface="Helvetica Neue"/>
                <a:cs typeface="Helvetica Neue"/>
              </a:rPr>
              <a:t>Working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AFFC1-F8C1-414B-900E-CBAE2992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Add experiences and keep them between sessions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Search, filter, and sort the portfolio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Track hours, badges, and verification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Export resume-ready text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70B7D9-21EC-44CE-921E-827A9548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24050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School rollout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BBA005-8264-4B0C-AAF6-A4F9F5E3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Move local records to a school database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Use student and counselor sign-in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Attach evidence when a school requires 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272322"/>
                </a:solidFill>
                <a:latin typeface="Helvetica Neue"/>
                <a:ea typeface="Helvetica Neue"/>
                <a:cs typeface="Helvetica Neue"/>
              </a:rPr>
              <a:t>Generate formatted PDF resumes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8C0BB-6DE7-4077-BC60-74EEEED3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293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96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496FB2"/>
                </a:solidFill>
                <a:latin typeface="Helvetica Neue"/>
                <a:ea typeface="Helvetica Neue"/>
                <a:cs typeface="Helvetica Neue"/>
              </a:rPr>
              <a:t>Pathfolio gives every experience a place before the details disappear.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22C0A-6067-412C-810F-233E2DBF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E05C2A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252929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2026-10-06T23:51:57.6490000Z</dcterms:created>
  <dcterms:modified xsi:type="dcterms:W3CDTF">2026-10-06T23:51:57.6500000Z</dcterms:modified>
</coreProperties>
</file>